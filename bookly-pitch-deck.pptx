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SUPPORT CASE 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Bookly Support Agent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Smart, secure, and controlled — enforced in code, not just prompted for.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9525">
            <a:solidFill>
              <a:srgbClr val="2C30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70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comes from a real tool call — never a guess.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2670048"/>
            <a:ext cx="0" cy="1097280"/>
          </a:xfrm>
          <a:prstGeom prst="line">
            <a:avLst/>
          </a:prstGeom>
          <a:noFill/>
          <a:ln w="9525">
            <a:solidFill>
              <a:srgbClr val="2C30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2670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108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verified before anything account-specific is shared.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01000" y="2670048"/>
            <a:ext cx="0" cy="1097280"/>
          </a:xfrm>
          <a:prstGeom prst="line">
            <a:avLst/>
          </a:prstGeom>
          <a:noFill/>
          <a:ln w="9525">
            <a:solidFill>
              <a:srgbClr val="2C30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2670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108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 gate decides what the agent even gets to see.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9525">
            <a:solidFill>
              <a:srgbClr val="2C30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526280"/>
            <a:ext cx="41148" cy="548640"/>
          </a:xfrm>
          <a:prstGeom prst="rect">
            <a:avLst/>
          </a:prstGeom>
          <a:solidFill>
            <a:srgbClr val="8C3D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526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guarantee here is enforced in code — not just asked for in a prompt.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263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Claude (tool use) + Snowflake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6263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Masi-Phelps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 through the system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framework — one loop for most requests, a deterministic one for returns.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371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33172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103120" y="2331720"/>
            <a:ext cx="1371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31136" y="233172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 endpoint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0" y="23317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85616" y="233172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</a:t>
            </a:r>
            <a:endParaRPr lang="en-US" sz="13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intent_router.py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920240" y="2857500"/>
            <a:ext cx="182880" cy="0"/>
          </a:xfrm>
          <a:prstGeom prst="line">
            <a:avLst/>
          </a:prstGeom>
          <a:noFill/>
          <a:ln w="9525">
            <a:solidFill>
              <a:srgbClr val="DDDF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20240" y="271119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2857500"/>
            <a:ext cx="182880" cy="0"/>
          </a:xfrm>
          <a:prstGeom prst="line">
            <a:avLst/>
          </a:prstGeom>
          <a:noFill/>
          <a:ln w="9525">
            <a:solidFill>
              <a:srgbClr val="DDDF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71119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0" y="2857500"/>
            <a:ext cx="182880" cy="0"/>
          </a:xfrm>
          <a:prstGeom prst="line">
            <a:avLst/>
          </a:prstGeom>
          <a:noFill/>
          <a:ln w="9525">
            <a:solidFill>
              <a:srgbClr val="DDDF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2148840"/>
            <a:ext cx="0" cy="1417320"/>
          </a:xfrm>
          <a:prstGeom prst="line">
            <a:avLst/>
          </a:prstGeom>
          <a:noFill/>
          <a:ln w="9525">
            <a:solidFill>
              <a:srgbClr val="DDDF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2148840"/>
            <a:ext cx="274320" cy="0"/>
          </a:xfrm>
          <a:prstGeom prst="line">
            <a:avLst/>
          </a:prstGeom>
          <a:noFill/>
          <a:ln w="9525">
            <a:solidFill>
              <a:srgbClr val="DDDF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20025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3566160"/>
            <a:ext cx="274320" cy="0"/>
          </a:xfrm>
          <a:prstGeom prst="line">
            <a:avLst/>
          </a:prstGeom>
          <a:noFill/>
          <a:ln w="9525">
            <a:solidFill>
              <a:srgbClr val="DDDF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34198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691640"/>
            <a:ext cx="2103120" cy="914400"/>
          </a:xfrm>
          <a:prstGeom prst="rect">
            <a:avLst/>
          </a:prstGeom>
          <a:solidFill>
            <a:srgbClr val="F5F3EF"/>
          </a:solidFill>
          <a:ln w="15875">
            <a:solidFill>
              <a:srgbClr val="1A1F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63056" y="169164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4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tool use</a:t>
            </a:r>
            <a:endParaRPr lang="en-US" sz="14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· general · small talk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35040" y="3108960"/>
            <a:ext cx="21031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3D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63056" y="310896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Flow</a:t>
            </a:r>
            <a:endParaRPr lang="en-US" sz="14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no model call</a:t>
            </a:r>
            <a:endParaRPr lang="en-US" sz="14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returns_refunds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98180" y="1691640"/>
            <a:ext cx="0" cy="2331720"/>
          </a:xfrm>
          <a:prstGeom prst="line">
            <a:avLst/>
          </a:prstGeom>
          <a:noFill/>
          <a:ln w="9525">
            <a:solidFill>
              <a:srgbClr val="DDDF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8200" y="1691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Intent Detection sorts a message into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202082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refunds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policy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29260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Unclear:  </a:t>
            </a:r>
            <a:pPr algn="l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which of those 4 it is, with quick-reply buttons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b="1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 </a:t>
            </a:r>
            <a:pPr algn="l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right away, fails closed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78992" y="4352544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913632" y="4352544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748272" y="4352544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582912" y="4352544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846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loops — flexible for most, deterministic for returns.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383280" y="484632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Order Status: 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 orders table in Snowflake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Orders: 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a customer's recent orders in Snowflake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Return: 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 return row in Snowflake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Return Label: 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UPS API call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Policies: 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Search over policy docs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217920" y="4846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only — free within a conversation.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052560" y="48463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— intent_router.py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— prompts.py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flow — none (pure code)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—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detection &amp; disambiguation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classified into one of six categories before anything else runs — and a genuinely unclear one gets asked, not guessed.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35040" y="1828800"/>
            <a:ext cx="0" cy="3520440"/>
          </a:xfrm>
          <a:prstGeom prst="line">
            <a:avLst/>
          </a:prstGeom>
          <a:noFill/>
          <a:ln w="9525">
            <a:solidFill>
              <a:srgbClr val="DD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were left to the model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3500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requests could get a partial answer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1272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chat could talk the model off-script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9044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is exposed to every message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46817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message ("I need help") gets guessed at, or re-asked the same way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8288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built: classify, then ask if unsure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23500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classified before the agent runs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31272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forced tool call — no ambiguous text to parse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044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Unrecognized responses fail closed to out-of-scope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46817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unclear message gets quick-reply buttons, not another guess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41148" cy="365760"/>
          </a:xfrm>
          <a:prstGeom prst="rect">
            <a:avLst/>
          </a:prstGeom>
          <a:solidFill>
            <a:srgbClr val="8C3D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" y="5806440"/>
            <a:ext cx="1080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 </a:t>
            </a:r>
            <a:pPr algn="l" indent="0" marL="0">
              <a:buNone/>
            </a:pPr>
            <a:r>
              <a:rPr lang="en-US" sz="12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model call before every turn, and a fixed set of categories — worth it so the agent can't leave its lane, and ambiguity gets a concrete choice instead of a guess.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—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returns, not a model-driven flow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message classifies as a return, code — not the model — decides what happens next.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0" y="1783080"/>
            <a:ext cx="0" cy="3566160"/>
          </a:xfrm>
          <a:prstGeom prst="line">
            <a:avLst/>
          </a:prstGeom>
          <a:noFill/>
          <a:ln w="9525">
            <a:solidFill>
              <a:srgbClr val="DD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returns stayed in the flexible loop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042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refund's eligibility could be reasoned about differently each time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186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phrasing the model doesn't expect could misfile the wrong item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605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1330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checks depend on the model remembering to call them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built: a fixed state machine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331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62672" y="23042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+ email are extracted deterministically, not interpreted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2461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62672" y="32186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30-day eligibility window is enforced server-side, every time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1605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62672" y="41330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verified before any item or refund is discussed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41148" cy="365760"/>
          </a:xfrm>
          <a:prstGeom prst="rect">
            <a:avLst/>
          </a:prstGeom>
          <a:solidFill>
            <a:srgbClr val="8C3D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5715000"/>
            <a:ext cx="1080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 </a:t>
            </a:r>
            <a:pPr algn="l" indent="0" marL="0">
              <a:buNone/>
            </a:pPr>
            <a:r>
              <a:rPr lang="en-US" sz="12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flexible phrasing recognition in the returns flow — worth it since refunds and eligibility run the same way, every time.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change with more time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8288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identity verification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82880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magic link or OTP, not just an email match.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64240" cy="0"/>
          </a:xfrm>
          <a:prstGeom prst="line">
            <a:avLst/>
          </a:prstGeom>
          <a:noFill/>
          <a:ln w="9525">
            <a:solidFill>
              <a:srgbClr val="2C30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24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2491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Cross-session memory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2491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 customer's history across conversations, not just within 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29584"/>
            <a:ext cx="11064240" cy="0"/>
          </a:xfrm>
          <a:prstGeom prst="line">
            <a:avLst/>
          </a:prstGeom>
          <a:noFill/>
          <a:ln w="9525">
            <a:solidFill>
              <a:srgbClr val="2C30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210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62102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human-escalation tool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621024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dead ends to a live case, not just a message.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25696"/>
            <a:ext cx="11064240" cy="0"/>
          </a:xfrm>
          <a:prstGeom prst="line">
            <a:avLst/>
          </a:prstGeom>
          <a:noFill/>
          <a:ln w="9525">
            <a:solidFill>
              <a:srgbClr val="2C30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171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51713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evaluation harness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517136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grading to catch guardrail regressions in CI.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21808"/>
            <a:ext cx="11064240" cy="0"/>
          </a:xfrm>
          <a:prstGeom prst="line">
            <a:avLst/>
          </a:prstGeom>
          <a:noFill/>
          <a:ln w="9525">
            <a:solidFill>
              <a:srgbClr val="2C30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13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41324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treating “exists” as “verified”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5413248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a customer's orders by email alone shouldn't mark the session as identity-verified the same way an order-matched email does.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2026-09-18T01:37:18Z</dcterms:created>
  <dcterms:modified xsi:type="dcterms:W3CDTF">2026-09-18T01:37:18Z</dcterms:modified>
</cp:coreProperties>
</file>